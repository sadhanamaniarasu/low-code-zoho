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Revenue ($B)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B5A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2026(p)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13.2</c:v>
                </c:pt>
                <c:pt idx="1">
                  <c:v>17.4</c:v>
                </c:pt>
                <c:pt idx="2">
                  <c:v>21.9</c:v>
                </c:pt>
                <c:pt idx="3">
                  <c:v>26.6</c:v>
                </c:pt>
                <c:pt idx="4">
                  <c:v>32</c:v>
                </c:pt>
                <c:pt idx="5">
                  <c:v>38.5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B5A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A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2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A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D2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92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Trends in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Low-Code Application Development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of adoption patterns, platform capabilities, and the shift toward AI-assisted, citizen-led software development.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468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572414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Sadhana 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61447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CSBS   |   Roll No: 241401085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Low-Code Application Development?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platforms let developers and non-developers build software through visual, drag-and-drop interfaces and model-driven logic — writing little to no hand-coded syntax. Adoption has accelerated as organizations race to close the gap between growing software demand and limited developer capacity.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2D2A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950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survey report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279392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findings from industry surveys, platform documentation, and adoption data to map how low-code development is evolving in 2025–2026.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837944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0" y="1837944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enterprise apps projected to use low-code / no-code tools by 2026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46520" y="315468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3300984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0" y="3300984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average time-to-delivery vs. traditional hand-coded development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46177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4764024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0" y="4764024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organizations now using at least one low-code platform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Objectives &amp;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  <a:effectLst>
            <a:outerShdw sx="100000" sy="100000" kx="0" ky="0" algn="bl" rotWithShape="0" blurRad="63500" dist="25400" dir="5400000">
              <a:srgbClr val="4444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Key Trends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the technology and process shifts reshaping low-code platforms today.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  <a:effectLst>
            <a:outerShdw sx="100000" sy="100000" kx="0" ky="0" algn="bl" rotWithShape="0" blurRad="63500" dist="25400" dir="5400000">
              <a:srgbClr val="44444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01168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3675888" y="2697480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Adoption Drivers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75888" y="320040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organizations and citizen developers are turning to low-code.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  <a:effectLst>
            <a:outerShdw sx="100000" sy="100000" kx="0" ky="0" algn="bl" rotWithShape="0" blurRad="63500" dist="25400" dir="5400000">
              <a:srgbClr val="44444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201168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6601968" y="2697480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Challenges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01968" y="320040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governance, security, and scalability concerns raised by practitioners.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2688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  <a:effectLst>
            <a:outerShdw sx="100000" sy="100000" kx="0" ky="0" algn="bl" rotWithShape="0" blurRad="63500" dist="25400" dir="5400000">
              <a:srgbClr val="44444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55480" y="201168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9528048" y="2697480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Direction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28048" y="320040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where low-code development is headed over the next 2–3 years.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2D2A6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draw on secondary research across vendor reports, developer-community surveys, and analyst commentary covering low-code / no-code platforms, comparing responses from IT leaders, professional developers, and citizen developers.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Low-Code Market Growth &amp; Adoption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low-code platform market revenue ($B), illustrative trend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67665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54380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adoption is accelerating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43800" y="2221992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2075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shortage of professional developers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43800" y="2999232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28529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to modernize legacy systems quickly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43800" y="3776472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36301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 demanding self-service tooling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43800" y="4553712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7818120" y="44074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platforms lowering entry cost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2D2A6E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114800" cy="41148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83464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Emerging Trends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Low-Code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augmentation  ·  Citizen development  ·  Enterprise integration  ·  Governance-first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AI-Augmented Development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2D2A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now embedded directly into low-code platforms — turning natural-language prompts into working workflows, forms, and data models, and auto-suggesting logic as builders work.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9718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Prompt-to-app generation for rapid first drafts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copilots suggesting logic, fields, and integrations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and error detection during build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data queries for citizen developers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66560" y="1691640"/>
            <a:ext cx="4846320" cy="4251960"/>
          </a:xfrm>
          <a:prstGeom prst="roundRect">
            <a:avLst>
              <a:gd name="adj" fmla="val 2151"/>
            </a:avLst>
          </a:prstGeom>
          <a:solidFill>
            <a:srgbClr val="2D2A6E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920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0" y="22860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 is the single most-cited reason developers cite for choosing a low-code platform in 2025–26 surveys.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0" y="3383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040880" y="42519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platforms surveyed now ship a built-in AI assistant or copilot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Development &amp; Democratization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with no formal coding background are building and maintaining their own applications, shifting IT's role from sole builder to platform enabler and governor.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  <a:effectLst>
            <a:outerShdw sx="100000" sy="100000" kx="0" ky="0" algn="bl" rotWithShape="0" blurRad="63500" dist="25400" dir="5400000">
              <a:srgbClr val="444444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09067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99232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New Role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308152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guardrails, approves connectors, and manages shared components instead of building every app.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88036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  <a:effectLst>
            <a:outerShdw sx="100000" sy="100000" kx="0" ky="0" algn="bl" rotWithShape="0" blurRad="63500" dist="25400" dir="5400000">
              <a:srgbClr val="44444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309067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999232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Teams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566160"/>
            <a:ext cx="308152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developers pair with professional developers on higher-stakes, cross-functional projects.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88036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  <a:effectLst>
            <a:outerShdw sx="100000" sy="100000" kx="0" ky="0" algn="bl" rotWithShape="0" blurRad="63500" dist="25400" dir="5400000">
              <a:srgbClr val="444444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309067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2999232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Sprawl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3566160"/>
            <a:ext cx="308152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app catalogs and approval gates keep shadow IT and duplicate apps in check.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03 &amp;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Integration &amp; Governance-First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  <a:effectLst>
            <a:outerShdw sx="100000" sy="100000" kx="0" ky="0" algn="bl" rotWithShape="0" blurRad="63500" dist="25400" dir="5400000">
              <a:srgbClr val="4444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2D2A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Enterprise 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connectors to ERP, CRM, and legacy databases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architecture for headless, multi-experience apps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modules reused across business units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extending, not replacing, core IT systems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2D2A6E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717804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Governance-First Design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audit trails, versioning, and access controls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visibility into all citizen-built apps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 checks enforced pre-deployment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Platform-level policies to curb shadow-IT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Practitioners Still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37944"/>
            <a:ext cx="640080" cy="64008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91640" y="17647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Lock-In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76479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apps off a proprietary low-code platform remains costly and technically difficult.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35224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352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691640" y="286207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Limits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86207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high-volume workloads can outgrow what visual builders handle efficiently.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32504"/>
            <a:ext cx="640080" cy="64008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32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691640" y="395935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IT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9593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governance, citizen-built apps can multiply outside IT's visibility and control.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3E2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129784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297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1691640" y="505663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&amp; Design Gaps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505663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developers often lack training in data modeling, security, and UX best practice.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2D2A6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011680"/>
            <a:ext cx="4114800" cy="41148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508760" y="1755648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shifting from an add-on to the core interface of low-code platforms.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508760" y="2670048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developers are a permanent, growing part of the delivery workforce.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508760" y="3584448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are integrating low-code deeply rather than treating it as a silo.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08760" y="4498848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security maturity now determine platform success at scale.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Report — Emerging Trends in Low-Code Application Development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Sadhana M  |  Dept. of CSBS  |  241401085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2026-08-22T15:05:04Z</dcterms:created>
  <dcterms:modified xsi:type="dcterms:W3CDTF">2026-08-22T15:05:04Z</dcterms:modified>
</cp:coreProperties>
</file>